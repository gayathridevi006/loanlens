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a8c974931a4831" /><Relationship Type="http://schemas.openxmlformats.org/officeDocument/2006/relationships/extended-properties" Target="/docProps/app.xml" Id="Rbb7879cf8e704d06" /><Relationship Type="http://schemas.openxmlformats.org/officeDocument/2006/relationships/officeDocument" Target="/ppt/presentation.xml" Id="R043edf1287be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edf94680743fb"/>
  </p:sldMasterIdLst>
  <p:notesMasterIdLst>
    <p:notesMasterId xmlns:r="http://schemas.openxmlformats.org/officeDocument/2006/relationships" r:id="R19d55ee95f324f8b"/>
  </p:notesMasterIdLst>
  <p:sldIdLst>
    <p:sldId xmlns:r="http://schemas.openxmlformats.org/officeDocument/2006/relationships" id="256" r:id="R762805c1098a488a"/>
    <p:sldId xmlns:r="http://schemas.openxmlformats.org/officeDocument/2006/relationships" id="257" r:id="Rafd8ce5fcb5e46d6"/>
    <p:sldId xmlns:r="http://schemas.openxmlformats.org/officeDocument/2006/relationships" id="258" r:id="R8e4580a90ad24e3b"/>
    <p:sldId xmlns:r="http://schemas.openxmlformats.org/officeDocument/2006/relationships" id="259" r:id="R56d58bd56fbc4a61"/>
    <p:sldId xmlns:r="http://schemas.openxmlformats.org/officeDocument/2006/relationships" id="260" r:id="R6e76b54b47f947c4"/>
    <p:sldId xmlns:r="http://schemas.openxmlformats.org/officeDocument/2006/relationships" id="261" r:id="Rfb92a5bd39684381"/>
    <p:sldId xmlns:r="http://schemas.openxmlformats.org/officeDocument/2006/relationships" id="262" r:id="R351f15be7dd54120"/>
    <p:sldId xmlns:r="http://schemas.openxmlformats.org/officeDocument/2006/relationships" id="263" r:id="R4695003ae40243a0"/>
    <p:sldId xmlns:r="http://schemas.openxmlformats.org/officeDocument/2006/relationships" id="264" r:id="R437fcaf58ebc43b7"/>
    <p:sldId xmlns:r="http://schemas.openxmlformats.org/officeDocument/2006/relationships" id="265" r:id="R82c0c91ecbaf4a37"/>
    <p:sldId xmlns:r="http://schemas.openxmlformats.org/officeDocument/2006/relationships" id="266" r:id="Rcbb8af48005f491c"/>
    <p:sldId xmlns:r="http://schemas.openxmlformats.org/officeDocument/2006/relationships" id="267" r:id="Rdde5a14acf624fd5"/>
    <p:sldId xmlns:r="http://schemas.openxmlformats.org/officeDocument/2006/relationships" id="268" r:id="R9934e588038a421d"/>
    <p:sldId xmlns:r="http://schemas.openxmlformats.org/officeDocument/2006/relationships" id="269" r:id="R000657ccd24c41ec"/>
    <p:sldId xmlns:r="http://schemas.openxmlformats.org/officeDocument/2006/relationships" id="270" r:id="R034eeb4a7e344d8f"/>
    <p:sldId xmlns:r="http://schemas.openxmlformats.org/officeDocument/2006/relationships" id="271" r:id="R2b247bedd7594888"/>
    <p:sldId xmlns:r="http://schemas.openxmlformats.org/officeDocument/2006/relationships" id="272" r:id="R961d89b0ae5444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5b506da12d4a16" /><Relationship Type="http://schemas.openxmlformats.org/officeDocument/2006/relationships/slideMaster" Target="/ppt/slideMasters/slideMaster1.xml" Id="R0dbedf94680743fb" /><Relationship Type="http://schemas.openxmlformats.org/officeDocument/2006/relationships/notesMaster" Target="/ppt/notesMasters/notesMaster1.xml" Id="R19d55ee95f324f8b" /><Relationship Type="http://schemas.openxmlformats.org/officeDocument/2006/relationships/presProps" Target="/ppt/presProps.xml" Id="R04e13fa54bd24623" /><Relationship Type="http://schemas.openxmlformats.org/officeDocument/2006/relationships/viewProps" Target="/ppt/viewProps.xml" Id="R1b355ecd6eff4f1f" /><Relationship Type="http://schemas.openxmlformats.org/officeDocument/2006/relationships/tableStyles" Target="/ppt/tableStyles.xml" Id="R8712ed5744a64faf" /><Relationship Type="http://schemas.openxmlformats.org/officeDocument/2006/relationships/slide" Target="/ppt/slides/slide1.xml" Id="R762805c1098a488a" /><Relationship Type="http://schemas.openxmlformats.org/officeDocument/2006/relationships/slide" Target="/ppt/slides/slide2.xml" Id="Rafd8ce5fcb5e46d6" /><Relationship Type="http://schemas.openxmlformats.org/officeDocument/2006/relationships/slide" Target="/ppt/slides/slide3.xml" Id="R8e4580a90ad24e3b" /><Relationship Type="http://schemas.openxmlformats.org/officeDocument/2006/relationships/slide" Target="/ppt/slides/slide4.xml" Id="R56d58bd56fbc4a61" /><Relationship Type="http://schemas.openxmlformats.org/officeDocument/2006/relationships/slide" Target="/ppt/slides/slide5.xml" Id="R6e76b54b47f947c4" /><Relationship Type="http://schemas.openxmlformats.org/officeDocument/2006/relationships/slide" Target="/ppt/slides/slide6.xml" Id="Rfb92a5bd39684381" /><Relationship Type="http://schemas.openxmlformats.org/officeDocument/2006/relationships/slide" Target="/ppt/slides/slide7.xml" Id="R351f15be7dd54120" /><Relationship Type="http://schemas.openxmlformats.org/officeDocument/2006/relationships/slide" Target="/ppt/slides/slide8.xml" Id="R4695003ae40243a0" /><Relationship Type="http://schemas.openxmlformats.org/officeDocument/2006/relationships/slide" Target="/ppt/slides/slide9.xml" Id="R437fcaf58ebc43b7" /><Relationship Type="http://schemas.openxmlformats.org/officeDocument/2006/relationships/slide" Target="/ppt/slides/slide10.xml" Id="R82c0c91ecbaf4a37" /><Relationship Type="http://schemas.openxmlformats.org/officeDocument/2006/relationships/slide" Target="/ppt/slides/slide11.xml" Id="Rcbb8af48005f491c" /><Relationship Type="http://schemas.openxmlformats.org/officeDocument/2006/relationships/slide" Target="/ppt/slides/slide12.xml" Id="Rdde5a14acf624fd5" /><Relationship Type="http://schemas.openxmlformats.org/officeDocument/2006/relationships/slide" Target="/ppt/slides/slide13.xml" Id="R9934e588038a421d" /><Relationship Type="http://schemas.openxmlformats.org/officeDocument/2006/relationships/slide" Target="/ppt/slides/slide14.xml" Id="R000657ccd24c41ec" /><Relationship Type="http://schemas.openxmlformats.org/officeDocument/2006/relationships/slide" Target="/ppt/slides/slide15.xml" Id="R034eeb4a7e344d8f" /><Relationship Type="http://schemas.openxmlformats.org/officeDocument/2006/relationships/slide" Target="/ppt/slides/slide16.xml" Id="R2b247bedd7594888" /><Relationship Type="http://schemas.openxmlformats.org/officeDocument/2006/relationships/slide" Target="/ppt/slides/slide17.xml" Id="R961d89b0ae54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d721b00b6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9910bacf94360" /><Relationship Type="http://schemas.openxmlformats.org/officeDocument/2006/relationships/notesMaster" Target="/ppt/notesMasters/notesMaster1.xml" Id="R96d14b60757a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ec528b02748aa" /><Relationship Type="http://schemas.openxmlformats.org/officeDocument/2006/relationships/notesMaster" Target="/ppt/notesMasters/notesMaster1.xml" Id="R711171d52be2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465a47f2d241e4" /><Relationship Type="http://schemas.openxmlformats.org/officeDocument/2006/relationships/notesMaster" Target="/ppt/notesMasters/notesMaster1.xml" Id="R246fd52887da41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f2e65720fe46ef" /><Relationship Type="http://schemas.openxmlformats.org/officeDocument/2006/relationships/notesMaster" Target="/ppt/notesMasters/notesMaster1.xml" Id="R9b0b07ef7e034a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b64dc521a4887" /><Relationship Type="http://schemas.openxmlformats.org/officeDocument/2006/relationships/notesMaster" Target="/ppt/notesMasters/notesMaster1.xml" Id="Rb7153bc8e192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9dc04b9814f11" /><Relationship Type="http://schemas.openxmlformats.org/officeDocument/2006/relationships/notesMaster" Target="/ppt/notesMasters/notesMaster1.xml" Id="R8ca2f5bb8e544c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e9ffbf29fc4dc3" /><Relationship Type="http://schemas.openxmlformats.org/officeDocument/2006/relationships/notesMaster" Target="/ppt/notesMasters/notesMaster1.xml" Id="R5a57d5c9239e44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74a93d142d4eb9" /><Relationship Type="http://schemas.openxmlformats.org/officeDocument/2006/relationships/notesMaster" Target="/ppt/notesMasters/notesMaster1.xml" Id="Re6b6805fb84446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365ee1c40d4ac9" /><Relationship Type="http://schemas.openxmlformats.org/officeDocument/2006/relationships/notesMaster" Target="/ppt/notesMasters/notesMaster1.xml" Id="Re239102056ed49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b84b196d9c469f" /><Relationship Type="http://schemas.openxmlformats.org/officeDocument/2006/relationships/notesMaster" Target="/ppt/notesMasters/notesMaster1.xml" Id="R75faf0d82bd9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7ed7a3cd424715" /><Relationship Type="http://schemas.openxmlformats.org/officeDocument/2006/relationships/notesMaster" Target="/ppt/notesMasters/notesMaster1.xml" Id="Rea95f40423bf4a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9bf089ee6a4ac5" /><Relationship Type="http://schemas.openxmlformats.org/officeDocument/2006/relationships/notesMaster" Target="/ppt/notesMasters/notesMaster1.xml" Id="Rc1e941fc3f534a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5d350cf84a4b2a" /><Relationship Type="http://schemas.openxmlformats.org/officeDocument/2006/relationships/notesMaster" Target="/ppt/notesMasters/notesMaster1.xml" Id="R381fa3a1d1f148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0f4429cbf44ec7" /><Relationship Type="http://schemas.openxmlformats.org/officeDocument/2006/relationships/notesMaster" Target="/ppt/notesMasters/notesMaster1.xml" Id="R2fe4188b0bb141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e37addc4c64ad5" /><Relationship Type="http://schemas.openxmlformats.org/officeDocument/2006/relationships/notesMaster" Target="/ppt/notesMasters/notesMaster1.xml" Id="Rd831ac20674a49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6df48e80c8406d" /><Relationship Type="http://schemas.openxmlformats.org/officeDocument/2006/relationships/notesMaster" Target="/ppt/notesMasters/notesMaster1.xml" Id="R6041637158a44a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dbcdbd6d144b13" /><Relationship Type="http://schemas.openxmlformats.org/officeDocument/2006/relationships/notesMaster" Target="/ppt/notesMasters/notesMaster1.xml" Id="R0c83ce0b446f4d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 OF THIS SLIDE: the title / opening.</a:t>
            </a:r>
          </a:p>
          <a:p xmlns:a="http://schemas.openxmlformats.org/drawingml/2006/main">
            <a:r>
              <a:t>Open in one line: LoanLens AI is a fully local, explainable loan decision-support system, and this is the first review of Phase 2.</a:t>
            </a:r>
          </a:p>
          <a:p xmlns:a="http://schemas.openxmlformats.org/drawingml/2006/main">
            <a:r>
              <a:t>Remind the panel that Phase 1 already delivered a working backend; Phase 2 is about making it better-researched and closer to deployment.</a:t>
            </a:r>
          </a:p>
          <a:p xmlns:a="http://schemas.openxmlformats.org/drawingml/2006/main">
            <a:r>
              <a:t>Preview today's flow: a quick Phase 1 recap, the extended literature survey, the updated research gap, and the Phase 2 plan — including a new optional agentic-AI track. Keep this to about 30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prove the foundation already works.</a:t>
            </a:r>
          </a:p>
          <a:p xmlns:a="http://schemas.openxmlformats.org/drawingml/2006/main">
            <a:r>
              <a:t>Phase 1 delivered four capabilities: multi-format ingestion (CSV, Excel, JSON, PDF); a local TF-IDF + logistic-regression sentiment model with no external API; deterministic fraud and credit-risk scorecards that give plain-language reasons; and multi-document consolidation that merges files for the same applicant.</a:t>
            </a:r>
          </a:p>
          <a:p xmlns:a="http://schemas.openxmlformats.org/drawingml/2006/main">
            <a:r>
              <a:t>Point to the four stat callouts: 4 input formats, 9 REST endpoints, 4/4 tests passing, and zero external LLM keys used for scoring.</a:t>
            </a:r>
          </a:p>
          <a:p xmlns:a="http://schemas.openxmlformats.org/drawingml/2006/main">
            <a:r>
              <a:t>Stress that the zero is deliberate — privacy and auditability were design choices, not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system architecture and the modules already built.</a:t>
            </a:r>
          </a:p>
          <a:p xmlns:a="http://schemas.openxmlformats.org/drawingml/2006/main">
            <a:r>
              <a:t>Walk it left to right: a React + TypeScript front end, a FastAPI REST layer, the intelligence layer with the three scoring modules, and SQLAlchemy persistence over SQLite locally or PostgreSQL in Docker.</a:t>
            </a:r>
          </a:p>
          <a:p xmlns:a="http://schemas.openxmlformats.org/drawingml/2006/main">
            <a:r>
              <a:t>The three modules shipped are: sentiment (TF-IDF + logistic regression), a rule-based fraud scorecard bounded 0-100, and a rule-based credit-risk score bounded 1-99.</a:t>
            </a:r>
          </a:p>
          <a:p xmlns:a="http://schemas.openxmlformats.org/drawingml/2006/main">
            <a:r>
              <a:t>Key point to land: every score ships with a deterministic explanation and a processing log — nothing is a black box. Phase 2 must preserve this while adding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be honest about what was and was not verified — this earns credibility with the panel.</a:t>
            </a:r>
          </a:p>
          <a:p xmlns:a="http://schemas.openxmlformats.org/drawingml/2006/main">
            <a:r>
              <a:t>Verified in Phase 1 (left): the pytest suite 4/4, the health endpoint, create-and-retrieve round-trip, rejection of unsupported files, two-document consolidation, and a frontend build.</a:t>
            </a:r>
          </a:p>
          <a:p xmlns:a="http://schemas.openxmlformats.org/drawingml/2006/main">
            <a:r>
              <a:t>Not yet established (right) — this is the Phase 2 starting point: predictive accuracy, calibration and fairness; linking the offline Isolation Forest to live scoring; model-level explainability such as SHAP; production security; regulatory validation; and evaluation on a governed, labelled dataset.</a:t>
            </a:r>
          </a:p>
          <a:p xmlns:a="http://schemas.openxmlformats.org/drawingml/2006/main">
            <a:r>
              <a:t>Summarise: Phase 1 proved the pipeline runs end-to-end; Phase 2 makes it defensible and deployment-ready.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literature track I — explainability of machine-learned risk models, not just rule scorecards.</a:t>
            </a:r>
          </a:p>
          <a:p xmlns:a="http://schemas.openxmlformats.org/drawingml/2006/main">
            <a:r>
              <a:t>Cerneviciene &amp; Kabasinskas: a systematic review of XAI in finance — SHAP and LIME dominate but are usually bolted on after training.</a:t>
            </a:r>
          </a:p>
          <a:p xmlns:a="http://schemas.openxmlformats.org/drawingml/2006/main">
            <a:r>
              <a:t>Nallakaruppan et al.: gradient-boosted models plus explainability layers keep their accuracy. Zhu et al.: ensemble accuracy and explainability tooling can coexist.</a:t>
            </a:r>
          </a:p>
          <a:p xmlns:a="http://schemas.openxmlformats.org/drawingml/2006/main">
            <a:r>
              <a:t>Lin &amp; Wang: a caution — SHAP explanations can drift between retraining runs, so attribution stability must be monitored.</a:t>
            </a:r>
          </a:p>
          <a:p xmlns:a="http://schemas.openxmlformats.org/drawingml/2006/main">
            <a:r>
              <a:t>Takeaway: a calibrated model with SHAP is a realistic Phase 2 companion to our scorecards, provided we watch stability.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literature track II — agentic / LLM document pipelines, and privacy-preserving learning.</a:t>
            </a:r>
          </a:p>
          <a:p xmlns:a="http://schemas.openxmlformats.org/drawingml/2006/main">
            <a:r>
              <a:t>Agentic side: Ali shows agentic AI (LLM + RAG + RPA) speeds up underwriting but leaves explainability and compliance open. Richardson et al. show a structured multi-agent 'Agentic RAG' pipeline avoids unsupported decisions on missing-information cases. Both conclude value comes from an inspectable process, not from giving the model authority.</a:t>
            </a:r>
          </a:p>
          <a:p xmlns:a="http://schemas.openxmlformats.org/drawingml/2006/main">
            <a:r>
              <a:t>Privacy side: the multi-bank federated study reaches near-centralized accuracy while keeping data local; Farooq et al. extend the same federated pattern to fraud detection.</a:t>
            </a:r>
          </a:p>
          <a:p xmlns:a="http://schemas.openxmlformats.org/drawingml/2006/main">
            <a:r>
              <a:t>This supports our local-only stance and points to a possible future multi-branch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literature track III — fairness and governance, a dimension Phase 1 ignored entirely.</a:t>
            </a:r>
          </a:p>
          <a:p xmlns:a="http://schemas.openxmlformats.org/drawingml/2006/main">
            <a:r>
              <a:t>Bahlool, Hewahi &amp; Elmedany review 43 studies: performance, fairness and explainability are usually optimized separately; fairness constraints are tunable and moderate ones cost little accuracy. Lesson: test fairness BEFORE adding a supervised model, not after.</a:t>
            </a:r>
          </a:p>
          <a:p xmlns:a="http://schemas.openxmlformats.org/drawingml/2006/main">
            <a:r>
              <a:t>Garcia-Llorente &amp; Olmeda compare AI oversight across nine jurisdictions and give a three-level governance structure — individual rights, institutional accountability, systemic safeguards — aligned with the EU AI Act treating credit scoring as high-risk.</a:t>
            </a:r>
          </a:p>
          <a:p xmlns:a="http://schemas.openxmlformats.org/drawingml/2006/main">
            <a:r>
              <a:t>Mention that, with the agentic and LLM papers added, the survey now totals 27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synthesise where LoanLens still differs from the literature — four points.</a:t>
            </a:r>
          </a:p>
          <a:p xmlns:a="http://schemas.openxmlformats.org/drawingml/2006/main">
            <a:r>
              <a:t>One: most explainability is post-hoc; few pair it with bounded rule scorecards like we do, so Phase 2 compares the two directly.</a:t>
            </a:r>
          </a:p>
          <a:p xmlns:a="http://schemas.openxmlformats.org/drawingml/2006/main">
            <a:r>
              <a:t>Two: agentic and LLM systems trade privacy and auditability for fluency; we keep inference local and borrow only their auditability ideas.</a:t>
            </a:r>
          </a:p>
          <a:p xmlns:a="http://schemas.openxmlformats.org/drawingml/2006/main">
            <a:r>
              <a:t>Three: federated learning solves a data-sharing problem we do not yet have, but its privacy techniques are reusable later.</a:t>
            </a:r>
          </a:p>
          <a:p xmlns:a="http://schemas.openxmlformats.org/drawingml/2006/main">
            <a:r>
              <a:t>Four: fraud research favours black-box ensembles that are hard to justify to an officer; Phase 2 tests whether a calibrated model plus SHAP can match a scorecard's transparency.</a:t>
            </a:r>
          </a:p>
          <a:p xmlns:a="http://schemas.openxmlformats.org/drawingml/2006/main">
            <a:r>
              <a:t>Bottom line: keep the local, explainable core and layer research-backed upgrades on 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state the six Phase 2 objectives plainly.</a:t>
            </a:r>
          </a:p>
          <a:p xmlns:a="http://schemas.openxmlformats.org/drawingml/2006/main">
            <a:r>
              <a:t>1) Build a governed, de-identified, labelled dataset with train/validation/test splits — everything else depends on this. 2) Train and calibrate supervised models and compare them against the scorecards on the same data. 3) Add SHAP-style attributions once the model choice is validated.</a:t>
            </a:r>
          </a:p>
          <a:p xmlns:a="http://schemas.openxmlformats.org/drawingml/2006/main">
            <a:r>
              <a:t>4) Activate the fraud model by connecting or replacing the offline Isolation Forest. 5) Harden security — JWT/SSO, RBAC, encryption, audit logging. 6) Add oversight — model monitoring, drift checks, and adverse-action reason codes.</a:t>
            </a:r>
          </a:p>
          <a:p xmlns:a="http://schemas.openxmlformats.org/drawingml/2006/main">
            <a:r>
              <a:t>Frame these as three tracks (four with the optional agentic track), which the next slides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Track 1 — model and explainability maturity.</a:t>
            </a:r>
          </a:p>
          <a:p xmlns:a="http://schemas.openxmlformats.org/drawingml/2006/main">
            <a:r>
              <a:t>Start from a properly labelled, de-identified dataset. Train a calibrated ML baseline — gradient-boosted or logistic — alongside, NOT replacing, the scorecards.</a:t>
            </a:r>
          </a:p>
          <a:p xmlns:a="http://schemas.openxmlformats.org/drawingml/2006/main">
            <a:r>
              <a:t>Add SHAP attributions only after accuracy and stability checks pass, exactly as the literature advises. Bring the offline Isolation Forest (or a retrained successor) into live scoring, keeping the rule scores as a fallback.</a:t>
            </a:r>
          </a:p>
          <a:p xmlns:a="http://schemas.openxmlformats.org/drawingml/2006/main">
            <a:r>
              <a:t>Finally, show scorecard reasons and model attributions side by side so an officer can compare and override either. Theme: add machine-learned accuracy without losing explainability.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Track 2 — security and production readiness.</a:t>
            </a:r>
          </a:p>
          <a:p xmlns:a="http://schemas.openxmlformats.org/drawingml/2006/main">
            <a:r>
              <a:t>Replace demo credentials with real authentication (JWT/SSO) and role-based access control. Encrypt data at rest and in transit and put raw-payload storage behind access controls.</a:t>
            </a:r>
          </a:p>
          <a:p xmlns:a="http://schemas.openxmlformats.org/drawingml/2006/main">
            <a:r>
              <a:t>Add structured audit logging, secrets management, and retention/deletion policies. Move large batches and OCR to background workers so the system scales. Add adverse-action reason codes and policy checks aligned to lending regulation. Add model-drift monitoring with a lightweight model registry.</a:t>
            </a:r>
          </a:p>
          <a:p xmlns:a="http://schemas.openxmlformats.org/drawingml/2006/main">
            <a:r>
              <a:t>Note these map directly onto the three-level governance structure from the literature survey.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Track 3 — integration and product enhancements.</a:t>
            </a:r>
          </a:p>
          <a:p xmlns:a="http://schemas.openxmlformats.org/drawingml/2006/main">
            <a:r>
              <a:t>Planned integrations: a credit-bureau API for verified score inputs; an optional, clearly-labelled external LLM used only for narrative summaries; Alembic-managed schema migrations; and a mobile-friendly officer view.</a:t>
            </a:r>
          </a:p>
          <a:p xmlns:a="http://schemas.openxmlformats.org/drawingml/2006/main">
            <a:r>
              <a:t>Trust features: human-in-the-loop override captured with a recorded reason; fairness and disparate-impact checks; adverse-action notices generated from score attributions; and a version-tagged model registry for reproducible decisions.</a:t>
            </a:r>
          </a:p>
          <a:p xmlns:a="http://schemas.openxmlformats.org/drawingml/2006/main">
            <a:r>
              <a:t>Land the guardrail in the bottom box: any external LLM stays optional and narrative-only — active scoring remains local, keeping the Phase 1 privacy stance. This sets up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NEW Track 4 — the optional agentic-AI enhancement the guide asked for.</a:t>
            </a:r>
          </a:p>
          <a:p xmlns:a="http://schemas.openxmlformats.org/drawingml/2006/main">
            <a:r>
              <a:t>Be explicit that this is OPTIONAL and ADVISORY, scoped in Phase 2 and prototyped only if time allows — it is not a rewrite of the system.</a:t>
            </a:r>
          </a:p>
          <a:p xmlns:a="http://schemas.openxmlformats.org/drawingml/2006/main">
            <a:r>
              <a:t>What the agent would do (left): classify and read each document and extract fields; flag missing or inconsistent paperwork; retrieve the relevant policy text using agentic RAG; and draft a plain-language summary of the evidence.</a:t>
            </a:r>
          </a:p>
          <a:p xmlns:a="http://schemas.openxmlformats.org/drawingml/2006/main">
            <a:r>
              <a:t>Guardrails that keep it safe (right): it is barred from the Approve/Review/Reject decision; every tool call is written to the processing log; a human officer reviews and can override it; and active scoring stays local.</a:t>
            </a:r>
          </a:p>
          <a:p xmlns:a="http://schemas.openxmlformats.org/drawingml/2006/main">
            <a:r>
              <a:t>Close on the box: this design is grounded in the agentic-AI papers added to the survey — Okpala et al. [21], Singh et al. [22], Ferrag et al. [23] — so we gain the speed of agentic document handling while containing its auditability cost. The decision always stays with the scorecards and the officer.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twelve-week execution timeline — show the plan is realistic.</a:t>
            </a:r>
          </a:p>
          <a:p xmlns:a="http://schemas.openxmlformats.org/drawingml/2006/main">
            <a:r>
              <a:t>Weeks 1-2 dataset governance (de-identify, label, split). Weeks 3-4 model calibration and benchmarking vs the scorecards. Weeks 5-6 the explainability layer with SHAP and side-by-side reporting.</a:t>
            </a:r>
          </a:p>
          <a:p xmlns:a="http://schemas.openxmlformats.org/drawingml/2006/main">
            <a:r>
              <a:t>Weeks 7-8 security hardening (auth, RBAC, encryption, audit logging). Weeks 9-10 integration and polish — bureau API stub, monitoring, reason codes, and the optional agentic-assistant prototype. Weeks 11-12 final verification — full test suite, fairness checks, Phase 2 report and demo.</a:t>
            </a:r>
          </a:p>
          <a:p xmlns:a="http://schemas.openxmlformats.org/drawingml/2006/main">
            <a:r>
              <a:t>Point out the agentic track slots into the integration window as optional work, so it never blocks the core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closing / questions.</a:t>
            </a:r>
          </a:p>
          <a:p xmlns:a="http://schemas.openxmlformats.org/drawingml/2006/main">
            <a:r>
              <a:t>Restate the one-line takeaway: Phase 1 gave a working, explainable, local backend; Phase 2 turns it into a defensible, better-researched, deployment-ready system — now with a clearly-bounded optional agentic-AI track.</a:t>
            </a:r>
          </a:p>
          <a:p xmlns:a="http://schemas.openxmlformats.org/drawingml/2006/main">
            <a:r>
              <a:t>Thank the guide and panel, then invite questions.</a:t>
            </a:r>
          </a:p>
          <a:p xmlns:a="http://schemas.openxmlformats.org/drawingml/2006/main">
            <a:r>
              <a:t>Have answers ready for: why we keep scoring local instead of letting an LLM decide; how SHAP stability will be monitored; and how fairness will be tested before the supervised model 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Track 3 — integration and product enhancements.</a:t>
            </a:r>
          </a:p>
          <a:p xmlns:a="http://schemas.openxmlformats.org/drawingml/2006/main">
            <a:r>
              <a:t>Planned integrations: a credit-bureau API for verified score inputs; an optional, clearly-labelled external LLM used only for narrative summaries; Alembic-managed schema migrations; and a mobile-friendly officer view.</a:t>
            </a:r>
          </a:p>
          <a:p xmlns:a="http://schemas.openxmlformats.org/drawingml/2006/main">
            <a:r>
              <a:t>Trust features: human-in-the-loop override captured with a recorded reason; fairness and disparate-impact checks; adverse-action notices generated from score attributions; and a version-tagged model registry for reproducible decisions.</a:t>
            </a:r>
          </a:p>
          <a:p xmlns:a="http://schemas.openxmlformats.org/drawingml/2006/main">
            <a:r>
              <a:t>Land the guardrail in the bottom box: any external LLM stays optional and narrative-only — active scoring remains local, keeping the Phase 1 privacy stance. This sets up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Track 2 — security and production readiness.</a:t>
            </a:r>
          </a:p>
          <a:p xmlns:a="http://schemas.openxmlformats.org/drawingml/2006/main">
            <a:r>
              <a:t>Replace demo credentials with real authentication (JWT/SSO) and role-based access control. Encrypt data at rest and in transit and put raw-payload storage behind access controls.</a:t>
            </a:r>
          </a:p>
          <a:p xmlns:a="http://schemas.openxmlformats.org/drawingml/2006/main">
            <a:r>
              <a:t>Add structured audit logging, secrets management, and retention/deletion policies. Move large batches and OCR to background workers so the system scales. Add adverse-action reason codes and policy checks aligned to lending regulation. Add model-drift monitoring with a lightweight model registry.</a:t>
            </a:r>
          </a:p>
          <a:p xmlns:a="http://schemas.openxmlformats.org/drawingml/2006/main">
            <a:r>
              <a:t>Note these map directly onto the three-level governance structure from the literature survey.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b2c984f0949c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ef483e198948f2" /><Relationship Type="http://schemas.openxmlformats.org/officeDocument/2006/relationships/slideLayout" Target="/ppt/slideLayouts/slideLayout1.xml" Id="Rb355fe4705e6479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5fe4705e6479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0079f2bf34d32" /><Relationship Type="http://schemas.openxmlformats.org/officeDocument/2006/relationships/notesSlide" Target="/ppt/notesSlides/notesSlide1.xml" Id="R02c399868c69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6aff17c554fa1" /><Relationship Type="http://schemas.openxmlformats.org/officeDocument/2006/relationships/notesSlide" Target="/ppt/notesSlides/notesSlide2.xml" Id="Rfbf5d7627501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c75bd194243bc" /><Relationship Type="http://schemas.openxmlformats.org/officeDocument/2006/relationships/notesSlide" Target="/ppt/notesSlides/notesSlide3.xml" Id="Rc301259511b5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6e7d19cea4c3c" /><Relationship Type="http://schemas.openxmlformats.org/officeDocument/2006/relationships/notesSlide" Target="/ppt/notesSlides/notesSlide4.xml" Id="Rb19ec3f00b10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b4729dcb4b64" /><Relationship Type="http://schemas.openxmlformats.org/officeDocument/2006/relationships/hyperlink" Target="https://doi.org/10.1007/s10462-024-10854-8" TargetMode="External" Id="R26a2f8f273404858" /><Relationship Type="http://schemas.openxmlformats.org/officeDocument/2006/relationships/hyperlink" Target="https://doi.org/10.1007/s10462-024-10854-8" TargetMode="External" Id="Ra65ecba7bf9948d5" /><Relationship Type="http://schemas.openxmlformats.org/officeDocument/2006/relationships/hyperlink" Target="https://doi.org/10.3390/risks12100164" TargetMode="External" Id="Rf6ba9a440a0249b0" /><Relationship Type="http://schemas.openxmlformats.org/officeDocument/2006/relationships/hyperlink" Target="https://doi.org/10.3390/risks12100164" TargetMode="External" Id="Re9a362ee81434aaa" /><Relationship Type="http://schemas.openxmlformats.org/officeDocument/2006/relationships/hyperlink" Target="https://arxiv.org/abs/2508.01851" TargetMode="External" Id="R1c2ca8c1ce614b4e" /><Relationship Type="http://schemas.openxmlformats.org/officeDocument/2006/relationships/hyperlink" Target="https://arxiv.org/abs/2508.01851" TargetMode="External" Id="R66957a0552df4b7d" /><Relationship Type="http://schemas.openxmlformats.org/officeDocument/2006/relationships/hyperlink" Target="https://arxiv.org/abs/2402.17979" TargetMode="External" Id="Ra823e75096974e46" /><Relationship Type="http://schemas.openxmlformats.org/officeDocument/2006/relationships/hyperlink" Target="https://arxiv.org/abs/2402.17979" TargetMode="External" Id="Re2fc49cfdc1346a4" /><Relationship Type="http://schemas.openxmlformats.org/officeDocument/2006/relationships/notesSlide" Target="/ppt/notesSlides/notesSlide5.xml" Id="R2137391d44e8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28fe6950b4329" /><Relationship Type="http://schemas.openxmlformats.org/officeDocument/2006/relationships/hyperlink" Target="http://article.sapub.org/10.5923.j.se.20251201.01.html" TargetMode="External" Id="R0997727d07c3449d" /><Relationship Type="http://schemas.openxmlformats.org/officeDocument/2006/relationships/hyperlink" Target="http://article.sapub.org/10.5923.j.se.20251201.01.html" TargetMode="External" Id="Rb4a44913ada246fa" /><Relationship Type="http://schemas.openxmlformats.org/officeDocument/2006/relationships/hyperlink" Target="https://arxiv.org/abs/2607.07858" TargetMode="External" Id="R548583166f8d40ba" /><Relationship Type="http://schemas.openxmlformats.org/officeDocument/2006/relationships/hyperlink" Target="https://arxiv.org/abs/2607.07858" TargetMode="External" Id="Rfccc71389f9b4e0a" /><Relationship Type="http://schemas.openxmlformats.org/officeDocument/2006/relationships/hyperlink" Target="https://www.ijset.in/privacy-preserving-federated-learning-models-for-multi-bank-credit-risk-assessment/" TargetMode="External" Id="R52da4ef0522e494a" /><Relationship Type="http://schemas.openxmlformats.org/officeDocument/2006/relationships/hyperlink" Target="https://www.ijset.in/privacy-preserving-federated-learning-models-for-multi-bank-credit-risk-assessment/" TargetMode="External" Id="R4bbfe17a44d64116" /><Relationship Type="http://schemas.openxmlformats.org/officeDocument/2006/relationships/hyperlink" Target="https://doi.org/10.1155/acis/7116768" TargetMode="External" Id="R8e71ccfcc6ff47f4" /><Relationship Type="http://schemas.openxmlformats.org/officeDocument/2006/relationships/hyperlink" Target="https://doi.org/10.1155/acis/7116768" TargetMode="External" Id="Re3d156273c8a41b1" /><Relationship Type="http://schemas.openxmlformats.org/officeDocument/2006/relationships/notesSlide" Target="/ppt/notesSlides/notesSlide6.xml" Id="R7725c3e3f82e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fd12632914e2f" /><Relationship Type="http://schemas.openxmlformats.org/officeDocument/2006/relationships/hyperlink" Target="https://doi.org/10.3390/jrfm19020104" TargetMode="External" Id="R6563c6ccf7d64ba6" /><Relationship Type="http://schemas.openxmlformats.org/officeDocument/2006/relationships/hyperlink" Target="https://doi.org/10.3390/jrfm19020104" TargetMode="External" Id="Rd33e2a0096a744ab" /><Relationship Type="http://schemas.openxmlformats.org/officeDocument/2006/relationships/hyperlink" Target="https://doi.org/10.1057/s41261-026-00320-6" TargetMode="External" Id="Rd31f86c567d74959" /><Relationship Type="http://schemas.openxmlformats.org/officeDocument/2006/relationships/hyperlink" Target="https://doi.org/10.1057/s41261-026-00320-6" TargetMode="External" Id="Re1b9c8f450874970" /><Relationship Type="http://schemas.openxmlformats.org/officeDocument/2006/relationships/notesSlide" Target="/ppt/notesSlides/notesSlide7.xml" Id="R5ab812613dc9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116237dae4864" /><Relationship Type="http://schemas.openxmlformats.org/officeDocument/2006/relationships/notesSlide" Target="/ppt/notesSlides/notesSlide8.xml" Id="R5190d41b42eb43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1aafd93a4c46" /><Relationship Type="http://schemas.openxmlformats.org/officeDocument/2006/relationships/notesSlide" Target="/ppt/notesSlides/notesSlide9.xml" Id="Rb6847d6b924447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a87907084409" /><Relationship Type="http://schemas.openxmlformats.org/officeDocument/2006/relationships/notesSlide" Target="/ppt/notesSlides/notesSlide10.xml" Id="R59cfd881d61c40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5bc43de4748a3" /><Relationship Type="http://schemas.openxmlformats.org/officeDocument/2006/relationships/notesSlide" Target="/ppt/notesSlides/notesSlide11.xml" Id="R03c8e314194c42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3ac4e9c334778" /><Relationship Type="http://schemas.openxmlformats.org/officeDocument/2006/relationships/notesSlide" Target="/ppt/notesSlides/notesSlide12.xml" Id="Re4112125a84146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b74d5630f4586" /><Relationship Type="http://schemas.openxmlformats.org/officeDocument/2006/relationships/notesSlide" Target="/ppt/notesSlides/notesSlide13.xml" Id="R5057eb2b91d543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6e5e10ff4d9f" /><Relationship Type="http://schemas.openxmlformats.org/officeDocument/2006/relationships/notesSlide" Target="/ppt/notesSlides/notesSlide14.xml" Id="R92eefb3fd2c74c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3c9cd9c454f31" /><Relationship Type="http://schemas.openxmlformats.org/officeDocument/2006/relationships/notesSlide" Target="/ppt/notesSlides/notesSlide15.xml" Id="R05480b2fb6ba4c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8798bd3cf4422" /><Relationship Type="http://schemas.openxmlformats.org/officeDocument/2006/relationships/notesSlide" Target="/ppt/notesSlides/notesSlide16.xml" Id="R9911ff2ea9cd4d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b78b4897b4c4c" /><Relationship Type="http://schemas.openxmlformats.org/officeDocument/2006/relationships/notesSlide" Target="/ppt/notesSlides/notesSlide17.xml" Id="R39474270f409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89CD06-9429-4D5C-8DAE-3AAD18C8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0"/>
            <a:ext cx="43278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C4D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5622A8B-45DF-4A85-BEA6-6BB3E8BC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128016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C69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A534F2-E3B7-427B-A856-4E92126A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26D04E-60CC-4F9D-A49E-CC6FB579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5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PROJECT PHASE 2  ·  REVIEW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5EA109-D884-4C84-80CD-1572348A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7772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LoanLens AI</a:t>
            </a:r>
            <a:endParaRPr sz="5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E2BE2DF-B692-4532-A8CC-2E79FE7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7040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AI-Assisted Bank Loan Processing &amp; Explainable Risk Assessment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3078851-3FAE-41F1-B2EB-BDAE1600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7764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993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048BF6-120F-497C-BA76-C1D6277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6766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EAF0FC"/>
                </a:solidFill>
                <a:latin typeface="Calibri"/>
                <a:ea typeface="Calibri"/>
                <a:cs typeface="Calibri"/>
              </a:rPr>
              <a:t>From a working Phase 1 backend to a research-grounded Phase 2 plan: deeper literature review, model &amp; explainability upgrades, and production-readiness enhancements.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0566F66-04A0-47A8-BEA0-78DECAED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Gayathri Devi B</a:t>
            </a:r>
            <a:endParaRPr sz="125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PES2PGE24DS159  ·  M.Tech Data Science AI &amp; ML</a:t>
            </a:r>
            <a:endParaRPr sz="125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Guide: Sagarika Borah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91623F-3E0F-4AD1-BACA-BB15E06B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25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8C9AD6"/>
                </a:solidFill>
                <a:latin typeface="Calibri"/>
                <a:ea typeface="Calibri"/>
                <a:cs typeface="Calibri"/>
              </a:rPr>
              <a:t>PES UNIVERSITY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09850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2934FF-00E8-4BD5-9E40-A1BE6697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PHASE 1 RECAP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9EE98A-E4A4-44AA-BBEB-4643C77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LoanLens AI Delivered So Far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0CB4D9-DECF-444B-A2B0-1BE311E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92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Phase 1 produced a fully local, explainable decision-support backend — LoanLens AI — that ingests multi-format loan records and returns an auditable Approve / Review / Reject recommendation.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77B804-5AF2-4664-A1FA-BBA08D6E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F3D8E9-0187-4D03-B910-6B61FDF2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08825E1-32D9-49DB-9D4E-AA7AAFDC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9736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Multi-Format Ingestion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3142BD-024D-4758-B38E-C971238D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52344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CSV, Excel, JSON and PDF loan records normalized into one auditable record.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E566BAF-AF13-434C-8153-447228C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D6173E-A98A-4B83-A905-FE431EDF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A69F50-9403-4C5E-91DE-CE7CFB4C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28416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Local Sentiment Model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B09875-024A-419D-99D8-889A3406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TF-IDF + Logistic Regression scores applicant remarks — no external API.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DA7B4FB-6D3A-49C2-AD68-DA59442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2A1D595-6A29-44B6-A80A-7BF7CA3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1901D7-E302-4130-A415-2F400256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97096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Explainable Scorecards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E99B40-9DC2-4788-951E-0B267100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9704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Deterministic, bounded fraud and credit-risk scores with plain-language reasons.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F75EAC-7D02-4BD0-84D6-F7ABEB3F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ADEA22-9D1A-444D-AD3C-6FAB968B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EDFA38-5001-4C70-9D02-221A71B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65776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Multi-Document Consolidation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234A-C13C-427E-ABD2-8090DD3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58384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Documents sharing an applicant name are merged into a single case file.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DA7EBF1-D826-431D-B7EC-46182F6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371600"/>
            <a:ext cx="4279392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D3AED2C-B535-4505-97A1-046853F7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5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PHASE 1 AT A GLANCE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8164C7-1277-4130-89C0-985419E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57400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3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57E8801-F115-4664-A5F9-D0BB9B0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130552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Input formats</a:t>
            </a:r>
            <a:endParaRPr sz="10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supported (CSV/Excel/JSON/PDF)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C302B89-8C27-4540-9C03-EDFD511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081528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sz="3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139C657-3D9D-4350-9BDD-1B3BEB67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15468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REST API endpoints</a:t>
            </a:r>
            <a:endParaRPr sz="10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across intake, reports &amp; dashboards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115AF0-359F-4AA7-9F2F-806206D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05656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4/4</a:t>
            </a:r>
            <a:endParaRPr sz="3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45EE8E-0CC6-49B2-BB27-390EF751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78808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Backend pytest</a:t>
            </a:r>
            <a:endParaRPr sz="10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cases passing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BBB08D5-812C-461B-8BE3-BBA09EB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129784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</a:t>
            </a:r>
            <a:endParaRPr sz="3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4797E0E-8BC2-4394-9EA9-FB4A357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202936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External LLM / API keys</a:t>
            </a:r>
            <a:endParaRPr sz="10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used for active scoring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6280FB6-BAF9-42BE-816B-A541C91A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B334BB0-BAD0-4986-9CFA-A7FACB3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02092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C02472-BF6D-47F3-8A74-6A69EE3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PHASE 1 RECAP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3FB0AA-B316-464B-A9D7-5D0F56B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Architecture &amp; Modules Already in Place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448D42-49B9-44CF-887F-776FA6D7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8A67E4-7A23-4F63-888A-849FA37C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Presentation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E6C4E0-08A6-42F5-B72B-E3F8A15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24231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EAF0FC"/>
                </a:solidFill>
                <a:latin typeface="Calibri"/>
                <a:ea typeface="Calibri"/>
                <a:cs typeface="Calibri"/>
              </a:rPr>
              <a:t>React + TypeScript dashboard for intake, review &amp; analytics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FD42E5-9C39-4B6A-B108-F905E91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508760"/>
            <a:ext cx="48463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9D2E72-B6E8-4F47-9CEB-F9C1513A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5087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B366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539AD23-4FFD-4F47-BAFC-23886A4D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627632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API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35E398C-3483-42D7-AB28-116FEBBE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965960"/>
            <a:ext cx="24231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EAF0FC"/>
                </a:solidFill>
                <a:latin typeface="Calibri"/>
                <a:ea typeface="Calibri"/>
                <a:cs typeface="Calibri"/>
              </a:rPr>
              <a:t>FastAPI REST boundary — upload, applications, reports, health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0E2D46-87B8-4BE3-92B5-E2B87E28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508760"/>
            <a:ext cx="48463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392A0A4-85EF-42AD-A4EE-693DDC9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087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20E05B-E5A6-4273-8592-B1B7B9C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627632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Intelligence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10DBF8-AA37-4421-AE50-5EE783B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965960"/>
            <a:ext cx="24231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EAF0FC"/>
                </a:solidFill>
                <a:latin typeface="Calibri"/>
                <a:ea typeface="Calibri"/>
                <a:cs typeface="Calibri"/>
              </a:rPr>
              <a:t>Sentiment, fraud &amp; credit-risk scorecards (fully local)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4EB19A2-F6DB-4A27-A0A8-21F833F8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1508760"/>
            <a:ext cx="48463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B864509-6373-4DCF-A93C-75051CA9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15087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B366E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B5073F4-8DB5-4C67-9613-E3250C1D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627632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Data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6BB906-2419-4DAC-8FD6-D491E9B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965960"/>
            <a:ext cx="24231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EAF0FC"/>
                </a:solidFill>
                <a:latin typeface="Calibri"/>
                <a:ea typeface="Calibri"/>
                <a:cs typeface="Calibri"/>
              </a:rPr>
              <a:t>SQLAlchemy over SQLite (local) / PostgreSQL (Docker)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6199652-DA3B-4580-8B48-4CB6CD30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101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2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THREE SCORING MODULES SHIPPED IN PHASE 1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3ED5C9F-5B97-48D8-8DE5-7FF58EDA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361188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C151697-B7B3-4293-A988-6EF6F0FC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Sentiment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57D1164-7D11-4F9B-84A4-1703CB1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7952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TF-IDF + Logistic Regression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4E8B12A-69B0-48C7-BA17-D38279C4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Positive / Neutral / Negative + confidence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670731-EEA2-4E3E-B8BA-3D1143CF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03320"/>
            <a:ext cx="361188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BF9382-F95E-4FB5-800A-924E6B9B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04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Fraud Scorecard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3C866F3-B322-4EB5-B9F8-E28D9B1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87952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Rule-based, bounded 0–100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BC0D28B-1339-44D9-AF11-C4E5BDB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371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Unverifiable income, duplicate filings, missing evidence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2B42FE8-283B-4F36-9DE5-6EE525DD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3320"/>
            <a:ext cx="361188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F2E6B8C-FA34-4DFA-AF6B-2E21186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Credit Risk</a:t>
            </a:r>
            <a:endParaRPr sz="13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0AC38E4-B93F-4113-AA43-9DAD4089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187952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Rule-based, bounded 1–99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7E49E3B-A53A-429C-9E0D-C88D4F52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5371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Credit score, DTI, employment, income, fraud result</a:t>
            </a:r>
            <a:endParaRPr sz="10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BBA06C3-5A7A-4083-B464-F6FF715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Every score ships with a deterministic, plain-language explanation and a processing log — no black-box output at any stage.</a:t>
            </a:r>
            <a:endParaRPr sz="11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0096F40-AB50-4304-BB38-51347C1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75CAD2-FFB5-428C-B3F2-C20FC45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2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61459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9E9E03-58AA-4882-8FDD-68991994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PHASE 1 RECAP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95FD6C-182F-4EAC-9F69-2AEDB646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Was Verified — and What Wasn't Yet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0BA87B-CB57-4A69-97E5-748F854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2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VERIFIED IN PHASE 1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110ABD-E8A0-4842-9AF9-A99BB90D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AC4DAC-9B06-4CD0-AB85-245331BD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3C6212-3DBF-433E-974F-7EC910E8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01368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Backend pytest suite — 4/4 tests passed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96197C4-C21C-4689-8E88-022156B5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91E44FD-C6D8-4F4C-A71F-F406F9C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A54115F-44AE-4D19-9A4D-36DDAEE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86000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Health endpoint returns HTTP 200 / healthy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E7A756F-522C-449B-8D0B-CB703637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80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9A0AA8-BF87-46C8-A4A6-8D7C69B1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80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31856F2-EE0A-421C-9A11-6DAD830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70632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Application create &amp; retrieve round-trip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F5E4323-B515-4E1B-A555-2EC9EF2F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826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E708332-9DFE-4109-ACB3-3F02B11E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8269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60A0CD-291D-4E4A-A5FB-AE6C3F89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55264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Unsupported file extension correctly rejected (HTTP 400)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29BA442-5431-45F1-A585-634CAED0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67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85C022-C31A-413F-B4EF-92FF5C6F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67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AF475F-2CD0-430B-B655-679F128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39896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Two-document JSON pack consolidated into one named case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1A71459-06EE-4F12-A61D-F3B6ED4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F90BDA-DB4B-4083-8A69-6C60124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0E6EA0-1AA9-4ADF-8882-C811832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24528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Frontend production build completed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3BB8E89-1A8C-4AC4-ABFE-3DF8009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0" cy="4709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ADCF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F1C6C0C-53B0-4585-A2DD-EDB98B5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NOT YET ESTABLISHED — THE PHASE 2 STARTING POINT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D7002F-A41D-45DD-9678-CA403C4B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A261A64-78F8-486C-9F7A-6F181ED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AE19236-8E2B-4F2C-8F18-4197B8CF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801368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Predictive accuracy, calibration or fairness of the scorecards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9D37BAD-8AC0-4326-89E7-0A4FC9C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134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9B47EF5-5474-4F31-881C-C8B747F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1343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796D675-2445-4A7F-AEF3-377B5877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286000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Connection between the offline Isolation Forest and live scoring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0658C71-39B5-40E6-9E64-A228099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980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41F7984-1F74-4368-8DB5-F5A5771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980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43098B8-586A-487C-BA4A-895483E5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770632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Formal, model-level explainability (e.g. SHAP-style attributions)</a:t>
            </a:r>
            <a:endParaRPr sz="11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61E7741-0DA5-47F8-9CCF-01921F1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26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539808F-4AA2-43E6-9B33-6E588731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269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4EC80B9-9D83-4E44-9A00-BFC81D9C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3255264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Production-grade auth, encryption, and audit controls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41444CA-D776-4644-9866-6019D29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7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AAE5F4C-23BB-4AF2-B36D-B5E3D52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7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B7EB4AD-8886-453A-8E6A-FBCB35D4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3739896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Regulatory / compliance validation of decision logic</a:t>
            </a:r>
            <a:endParaRPr sz="11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5C96114-BFFF-4AFF-ADA0-4CD59CF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875EEE2-3C54-45DA-9DFB-CC05B6A4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4CF99B7-557E-42AA-9B3D-2F1BC43B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224528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Evaluation on a governed, labelled banking dataset</a:t>
            </a:r>
            <a:endParaRPr sz="11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ACA7FE9-E7EE-4C1E-8868-AC0CC2E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4BEB905-6BFA-48EC-825A-4ADE60A5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235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1 proved the pipeline works end-to-end. Phase 2 turns that functional prototype into a defensible, better-researched, deployment-ready system.</a:t>
            </a:r>
            <a:endParaRPr sz="12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970CC03-A448-46BA-8E20-228A84E9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484C662A-88EE-45C2-AF2D-C2B3A9D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3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4326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E14BC7-0B06-484D-977D-8D4FB9B6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EXTENDED LITERATURE SURVEY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92DB12-4AF5-449A-94BE-F3397A7D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New Research Track I — Explainability in Credit &amp; Fraud Models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65A538-99D5-4A76-86DA-55E0E92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Phase 2 research widens beyond Phase 1's rule-scorecard baseline to examine how recent work formally explains machine-learned risk models.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B2DB2A-8BE5-44D5-B471-1B1E62A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106424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936328-18EB-4228-B833-82CE7223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Černevičienė &amp; Kabašinskas, 2024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144769-257F-4C15-9D9C-6F3914BC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Artificial Intelligence Review</a:t>
            </a:r>
            <a:endParaRPr sz="1000"/>
          </a:p>
        </p:txBody>
      </p:sp>
      <p:sp>
        <p:nvSpPr>
          <p:cNvPr id="8" name="Text 6">
            <a:hlinkClick xmlns:r="http://schemas.openxmlformats.org/officeDocument/2006/relationships" xmlns:a="http://schemas.openxmlformats.org/drawingml/2006/main" r:id="R26a2f8f273404858"/>
            <a:extLst xmlns:a="http://schemas.openxmlformats.org/drawingml/2006/main">
              <a:ext uri="{FF2B5EF4-FFF2-40B4-BE49-F238E27FC236}">
                <a16:creationId xmlns:a16="http://schemas.microsoft.com/office/drawing/2014/main" id="{61D36EF5-BCF9-4DB5-ADCD-B8321C1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65ecba7bf9948d5"/>
              </a:rPr>
              <a:t>doi.org/10.1007/s10462-024-10854-8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CAD25D-76B0-4E3C-8056-FAA05D2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856232"/>
            <a:ext cx="7635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 systematic review of explainable AI in finance, mapping SHAP/LIME-style methods against regulatory transparency needs — a useful checklist for LoanLens's own scorecard-vs-model explainability comparison.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D77630-61AF-42AC-953D-38F9BAB0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62656"/>
            <a:ext cx="1106424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DE4243-9DAC-406D-8959-2C2F463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54096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Nallakaruppan et al., 2024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DDC94FE-D746-4C0A-A11B-AB781E2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4670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Risks (MDPI)</a:t>
            </a:r>
            <a:endParaRPr sz="1000"/>
          </a:p>
        </p:txBody>
      </p:sp>
      <p:sp>
        <p:nvSpPr>
          <p:cNvPr id="13" name="Text 11">
            <a:hlinkClick xmlns:r="http://schemas.openxmlformats.org/officeDocument/2006/relationships" xmlns:a="http://schemas.openxmlformats.org/drawingml/2006/main" r:id="Rf6ba9a440a0249b0"/>
            <a:extLst xmlns:a="http://schemas.openxmlformats.org/drawingml/2006/main">
              <a:ext uri="{FF2B5EF4-FFF2-40B4-BE49-F238E27FC236}">
                <a16:creationId xmlns:a16="http://schemas.microsoft.com/office/drawing/2014/main" id="{FA6094E6-E94F-46D7-8B7F-EB9FA32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4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9a362ee81434aaa"/>
              </a:rPr>
              <a:t>doi.org/10.3390/risks12100164</a:t>
            </a:r>
            <a:endParaRPr sz="8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EAAF78-5403-4922-A40C-2991B35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35808"/>
            <a:ext cx="7635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Combines gradient-boosted risk models with explainable AI layers for credit decisions, showing that interpretability tooling can be added without materially sacrificing predictive strength.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1D645F5-D972-4DFE-A405-4F48869E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42232"/>
            <a:ext cx="1106424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40EE3F-42C7-4614-A189-7B1DEFF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33672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Lin &amp; Wang, 2025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60D8744-6DC3-44D2-AEE3-8E32C07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arXiv preprint</a:t>
            </a:r>
            <a:endParaRPr sz="1000"/>
          </a:p>
        </p:txBody>
      </p:sp>
      <p:sp>
        <p:nvSpPr>
          <p:cNvPr id="18" name="Text 16">
            <a:hlinkClick xmlns:r="http://schemas.openxmlformats.org/officeDocument/2006/relationships" xmlns:a="http://schemas.openxmlformats.org/drawingml/2006/main" r:id="R1c2ca8c1ce614b4e"/>
            <a:extLst xmlns:a="http://schemas.openxmlformats.org/drawingml/2006/main">
              <a:ext uri="{FF2B5EF4-FFF2-40B4-BE49-F238E27FC236}">
                <a16:creationId xmlns:a16="http://schemas.microsoft.com/office/drawing/2014/main" id="{8777494E-C1C7-46C8-ABFC-35A7DCF9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6957a0552df4b7d"/>
              </a:rPr>
              <a:t>arxiv.org/abs/2508.01851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665D5D-4292-435A-A5DE-CF7A73C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15384"/>
            <a:ext cx="7635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Studies how stable SHAP attributions remain across retraining runs for a credit-default model — directly relevant to keeping Phase 2 explanations trustworthy as the dataset evolves.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BB85D37-66C7-466F-BE1F-974A26D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1808"/>
            <a:ext cx="1106424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D43F6F-075C-4A31-A0C9-3C378C85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Zhu et al., 2024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5BA3D4-706F-474B-BE03-AF84E8B4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585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arXiv preprint</a:t>
            </a:r>
            <a:endParaRPr sz="1000"/>
          </a:p>
        </p:txBody>
      </p:sp>
      <p:sp>
        <p:nvSpPr>
          <p:cNvPr id="23" name="Text 21">
            <a:hlinkClick xmlns:r="http://schemas.openxmlformats.org/officeDocument/2006/relationships" xmlns:a="http://schemas.openxmlformats.org/drawingml/2006/main" r:id="Ra823e75096974e46"/>
            <a:extLst xmlns:a="http://schemas.openxmlformats.org/drawingml/2006/main">
              <a:ext uri="{FF2B5EF4-FFF2-40B4-BE49-F238E27FC236}">
                <a16:creationId xmlns:a16="http://schemas.microsoft.com/office/drawing/2014/main" id="{BFA38C21-3D00-4B91-B69F-944B77A4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1616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2fc49cfdc1346a4"/>
              </a:rPr>
              <a:t>arxiv.org/abs/2402.17979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3C5CACD-1719-4534-8485-F57240DE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394960"/>
            <a:ext cx="7635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Benchmarks a LightGBM/XGBoost/LocalEnsemble stack for credit-default prediction, reinforcing that ensemble accuracy and explainability tooling are not mutually exclusive.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C4000D9-7200-405C-9DA6-CBC5D68D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C19B411-F7E6-4E39-809C-3F26931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4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72707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110177-DA1D-4AE5-91DA-8555B01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EXTENDED LITERATURE SURVEY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FD3E44-4767-430A-9B6F-28FD993B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New Research Track II — Agentic/LLM Pipelines &amp; Privacy-Preserving Learning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893864E-586F-4E42-B927-9B4780F1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AGENTIC &amp; LLM-BASED DOCUMENT PROCESSING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256CE-2BF3-4C24-A2AA-80AB3AFF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E85838-D5C0-470C-8929-F8850DC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47088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Ali, 2025 — Software Engineering journal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B1114C-D7D3-4D2E-92FB-CFE46C61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50292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Empirically shows agentic AI (LLM + RAG + RPA) speeding up underwriting and reducing inconsistency, while flagging explainability and compliance as open problems — the exact trade-off LoanLens avoids by staying rule-based.</a:t>
            </a:r>
            <a:endParaRPr sz="1000"/>
          </a:p>
        </p:txBody>
      </p:sp>
      <p:sp>
        <p:nvSpPr>
          <p:cNvPr id="8" name="Text 6">
            <a:hlinkClick xmlns:r="http://schemas.openxmlformats.org/officeDocument/2006/relationships" xmlns:a="http://schemas.openxmlformats.org/drawingml/2006/main" r:id="R0997727d07c3449d"/>
            <a:extLst xmlns:a="http://schemas.openxmlformats.org/drawingml/2006/main">
              <a:ext uri="{FF2B5EF4-FFF2-40B4-BE49-F238E27FC236}">
                <a16:creationId xmlns:a16="http://schemas.microsoft.com/office/drawing/2014/main" id="{46A8E0F7-44B4-4019-A020-0665D84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63824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4a44913ada246fa"/>
              </a:rPr>
              <a:t>article.sapub.org/10.5923.j.se.20251201.01.html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4C80D06-7AA8-42CD-BBF2-822B37C7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539496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A733AEF-5B8D-4454-893C-6811DDF1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21608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Richardson et al., 2026 — arXiv preprint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DB24B5-E8A3-4D63-990E-D3D5EB3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50292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Compares single-LLM, naive RAG, and multi-agent “Agentic RAG” underwriting pipelines; the structured agent avoids unsupported decisions on missing-information cases — supports keeping any future LLM use as an optional, human-supervised summary layer.</a:t>
            </a:r>
            <a:endParaRPr sz="1000"/>
          </a:p>
        </p:txBody>
      </p:sp>
      <p:sp>
        <p:nvSpPr>
          <p:cNvPr id="12" name="Text 10">
            <a:hlinkClick xmlns:r="http://schemas.openxmlformats.org/officeDocument/2006/relationships" xmlns:a="http://schemas.openxmlformats.org/drawingml/2006/main" r:id="R548583166f8d40ba"/>
            <a:extLst xmlns:a="http://schemas.openxmlformats.org/drawingml/2006/main">
              <a:ext uri="{FF2B5EF4-FFF2-40B4-BE49-F238E27FC236}">
                <a16:creationId xmlns:a16="http://schemas.microsoft.com/office/drawing/2014/main" id="{F4DF3DBD-6DE5-410D-AF11-F2B21643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ccc71389f9b4e0a"/>
              </a:rPr>
              <a:t>arxiv.org/abs/2607.07858</a:t>
            </a:r>
            <a:endParaRPr sz="8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2E7C7A-E20C-4F10-9A8D-5DDCA383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716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PRIVACY-PRESERVING / FEDERATED CREDIT MODELS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C3ACA65-758C-4AD1-B25F-205A06A8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E93703C-6B3C-43F4-B822-8951D2E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47088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Multi-Bank PPFL Study, 2026 (IJSET)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D06A95-7C48-492B-8DD2-13C2F36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50292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 federated framework across banks reaches accuracy close to a centralized model while keeping raw applicant data local — reinforces LoanLens's own local-only processing stance, extended to multi-branch deployments.</a:t>
            </a:r>
            <a:endParaRPr sz="1000"/>
          </a:p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52da4ef0522e494a"/>
            <a:extLst xmlns:a="http://schemas.openxmlformats.org/drawingml/2006/main">
              <a:ext uri="{FF2B5EF4-FFF2-40B4-BE49-F238E27FC236}">
                <a16:creationId xmlns:a16="http://schemas.microsoft.com/office/drawing/2014/main" id="{4EACE970-371C-4FF7-AB7C-0528F6C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63824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bbfe17a44d64116"/>
              </a:rPr>
              <a:t>ijset.in/privacy-preserving-federated...</a:t>
            </a:r>
            <a:endParaRPr sz="8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3EF557F-FA20-4A23-A44B-346C1F6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11880"/>
            <a:ext cx="539496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BF71A6-99FB-4B7A-BD2F-F0A86316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21608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Farooq et al., 2025 — Applied Comp. Intelligence &amp; Soft Computing</a:t>
            </a:r>
            <a:endParaRPr sz="11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E57A31-BC7C-4C8E-A5C9-44A07F5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69080"/>
            <a:ext cx="50292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Combines adaptive federated averaging with class-imbalance handling for credit-card fraud detection, extending the same privacy-preserving pattern from credit scoring into fraud detection.</a:t>
            </a:r>
            <a:endParaRPr sz="1000"/>
          </a:p>
        </p:txBody>
      </p:sp>
      <p:sp>
        <p:nvSpPr>
          <p:cNvPr id="21" name="Text 19">
            <a:hlinkClick xmlns:r="http://schemas.openxmlformats.org/officeDocument/2006/relationships" xmlns:a="http://schemas.openxmlformats.org/drawingml/2006/main" r:id="R8e71ccfcc6ff47f4"/>
            <a:extLst xmlns:a="http://schemas.openxmlformats.org/drawingml/2006/main">
              <a:ext uri="{FF2B5EF4-FFF2-40B4-BE49-F238E27FC236}">
                <a16:creationId xmlns:a16="http://schemas.microsoft.com/office/drawing/2014/main" id="{134057C3-9610-4392-9B5C-D19FB8A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038344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3d156273c8a41b1"/>
              </a:rPr>
              <a:t>doi.org/10.1155/acis/7116768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55A9B0C-ED77-411B-AB58-39AD5EC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Source: extended literature review conducted for Phase 2, building on the Phase 1 reference set. Two more papers (fairness and governance) follow on the next slide.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5F122AD-B0A2-4555-A79F-BBE0DC2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27B8D09-9C31-4F6E-B437-2BEE9D96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5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0026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5F34D3-8231-4636-B5CA-30F77E01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EXTENDED LITERATURE SURVEY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E6172C-B2CB-4364-9B4F-0626887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New Research Track III — Fairness &amp; Governance in AI Lending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F9E260-15D2-471D-9E18-2510983A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With the new agentic-AI and LLM papers, the combined Phase 1 + Phase 2 literature review now reaches 27 references in total.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D5394A8-582E-45AC-B5D5-F79D9536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5394960" cy="3977640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2CD79A-31F1-4099-89C1-11AFDC9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FAIRNESS IN AI CREDIT SCORING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3C6DE0-41E3-4161-938A-DE0CD131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Bahlool, Hewahi &amp; Elmedany,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F904CEF-33AD-4EE3-BF82-C8FC4EA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70048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Journal of Risk and Financial Management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E2F3AD-9EEA-4D5E-B848-540E318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49377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 systematic review of 43 studies (2020–2025) on AI credit scoring finds that performance, fairness, and explainability are still mostly optimized in isolation — fairness constraints are tunable, not all-or-nothing, and aggressive constraints cost more accuracy than moderate ones.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E845A39-B5FD-425B-9134-270F8789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41909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F9CD83E-08D0-41C8-B1E5-E58CF95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4190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Bias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63B3EC-C6E8-4E28-8ED0-B9AFF7E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65" y="4370832"/>
            <a:ext cx="128564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1934614-0055-47AF-A575-DBC325B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65" y="4370832"/>
            <a:ext cx="128564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Fair lending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ABB75D-8718-4EC4-ADEA-7725610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27" y="4370832"/>
            <a:ext cx="1929384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00D71E-D92D-47B8-BE70-5D33381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27" y="4370832"/>
            <a:ext cx="19293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attributes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58D0F0-E246-46C4-8CB1-151C28C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0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Key insight: fairness must be checked before Phase 2 adds a supervised model, not after.</a:t>
            </a:r>
            <a:endParaRPr sz="1000"/>
          </a:p>
        </p:txBody>
      </p:sp>
      <p:sp>
        <p:nvSpPr>
          <p:cNvPr id="17" name="Text 15">
            <a:hlinkClick xmlns:r="http://schemas.openxmlformats.org/officeDocument/2006/relationships" xmlns:a="http://schemas.openxmlformats.org/drawingml/2006/main" r:id="R6563c6ccf7d64ba6"/>
            <a:extLst xmlns:a="http://schemas.openxmlformats.org/drawingml/2006/main">
              <a:ext uri="{FF2B5EF4-FFF2-40B4-BE49-F238E27FC236}">
                <a16:creationId xmlns:a16="http://schemas.microsoft.com/office/drawing/2014/main" id="{BBF5146D-C675-4B17-B62E-DFD347D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33e2a0096a744ab"/>
              </a:rPr>
              <a:t>doi.org/10.3390/jrfm19020104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6834E73-AB44-4A17-B65D-726A4356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5394960" cy="3977640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6D2E14A-4C0F-47C5-98B3-FE39EFD0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AI GOVERNANCE IN FINANCIAL DECISION SYSTEMS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69A80B5-C9DB-4B3C-8D28-CC4ABAD8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García-Llorente &amp; Olmeda, 2026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D84C01-5BC3-4560-8959-088321D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70048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Journal of Banking Regulation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FC621AB-32E8-448B-B170-52B87F46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17520"/>
            <a:ext cx="49377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 comparative analysis of AI oversight across nine jurisdictions (EU, UK, US, India and others), organizing governance into three levels: individual rights, institutional accountability, and systemic safeguards — a ready-made checklist for regulated deployment.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D7318E1-344E-4B29-AB90-B553C02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1044245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B9F33D5-720D-4B2B-95B3-F71FDFA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104424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EU AI Act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F0DB9C2-2B5B-4906-92FE-0B2797F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01" y="4370832"/>
            <a:ext cx="1607515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EA41242-BF0E-43C6-8151-2ACF9779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01" y="4370832"/>
            <a:ext cx="160751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Governance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C3A6CE3-9D86-402F-AD28-63E45DBB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54880"/>
            <a:ext cx="152704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F4853A1-2CF1-459B-A48B-971E2804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54880"/>
            <a:ext cx="1527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Management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66FABB7-E276-4E18-BA02-6D49457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4754880"/>
            <a:ext cx="176845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6434D2B-BC48-4C82-B0E2-C263733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4754880"/>
            <a:ext cx="17684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Banking Compliance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F67A5CC-E98F-433E-ACDA-658EE75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166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00" i="1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Key insight: gives Phase 2's security/monitoring track a concrete 3-level structure to build against.</a:t>
            </a:r>
            <a:endParaRPr sz="1000"/>
          </a:p>
        </p:txBody>
      </p:sp>
      <p:sp>
        <p:nvSpPr>
          <p:cNvPr id="32" name="Text 30">
            <a:hlinkClick xmlns:r="http://schemas.openxmlformats.org/officeDocument/2006/relationships" xmlns:a="http://schemas.openxmlformats.org/drawingml/2006/main" r:id="Rd31f86c567d74959"/>
            <a:extLst xmlns:a="http://schemas.openxmlformats.org/drawingml/2006/main">
              <a:ext uri="{FF2B5EF4-FFF2-40B4-BE49-F238E27FC236}">
                <a16:creationId xmlns:a16="http://schemas.microsoft.com/office/drawing/2014/main" id="{267A35D9-A6F9-4CBB-93A3-5D83687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u="sng">
                <a:solidFill>
                  <a:srgbClr val="1155CC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1b9c8f450874970"/>
              </a:rPr>
              <a:t>doi.org/10.1057/s41261-026-00320-6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EDE8F2-8C1C-4F34-874D-4A67005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4754806-C421-48E0-9731-C9C791B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6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355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6D4A0-CFE2-45E2-872D-D14AB08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UPDATED RESEARCH GAP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EF1842-5D66-4B76-A4C9-82BFB62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LoanLens AI Still Differs From the Literature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D6D6C1-4F9E-4AE5-9101-B1EFB47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99DF3F-DBA4-47AD-B6E4-23482732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940B7F3-FED8-4FA8-B442-C494432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53896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Explainability is post-hoc, not model-native</a:t>
            </a:r>
            <a:endParaRPr sz="13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BAF098-18AF-4DE4-9679-0F17D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64792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Most SHAP/LIME work explains an existing model after training; few pair that with bounded, auditable rule scorecards the way LoanLens does — Phase 2 will compare the two directly.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8A4B67E-3768-473F-A225-69DDF1E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24C790-E139-47AE-8892-C8A2F09A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7C3A4E-5FAE-4432-9FB5-54B48757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87168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Agentic/LLM systems trade privacy for fluency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655F58E-CD50-4CD6-933A-8314778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98064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Reviewed agentic pipelines call external LLMs for reasoning; LoanLens will keep inference local while borrowing only their auditability ideas.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4DEEF6D-BC30-4C0F-8241-E79EB0C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753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D28C965-D6E8-49F5-959F-0575646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753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1BA02D5-7418-4DF5-985E-DA951822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2044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Federated approaches assume multi-institution data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50C5B0-11C3-4C61-983B-AD1189C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31336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Cross-bank federated learning solves a data-sharing problem LoanLens does not yet have — but its privacy techniques (no raw data leaving the host) are directly reusable.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10D689-83FC-45F9-8285-F3B2FBD6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5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BAA06D-6765-43C6-9C97-EA7B0D13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085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97EB062-3FEA-454D-9FB1-6C3F9A5F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Fraud research favors black-box ensembles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A97EAC7-B7DD-4B42-BFA0-7563A18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64608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LightGBM/XGBoost fraud models score well but are harder to justify to a bank officer than a rule scorecard — Phase 2 tests whether a calibrated model plus SHAP can match that transparency.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29372BF-0B47-4BE6-AAB7-9FED88C9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15000"/>
            <a:ext cx="110642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BD6"/>
          </a:solidFill>
          <a:ln xmlns:a="http://schemas.openxmlformats.org/drawingml/2006/main" w="12700">
            <a:solidFill>
              <a:srgbClr val="E3993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37DBCA4-CD61-44C2-B6CA-2C1DA9C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keeps LoanLens's local, explainable core — and layers in calibrated models, formal attributions and privacy-aware design patterns drawn from this wider survey.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BFE2837-447F-4CA0-9F93-358364B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31A81FF-5CA1-4EC6-87BF-48AEA813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7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80018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F1AA701-A8A7-4F3C-854E-1FB8868E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46304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C6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9AEB0F-CF4F-4596-AB18-639632E6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PHASE 2 PLAN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00779D-E8A3-45AF-9F70-5FAECBF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Objectives for the Next Phase</a:t>
            </a:r>
            <a:endParaRPr sz="2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97FF71-B530-4CEC-9DB3-07E2B9A9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4EFE7A-2EEB-4555-B598-18B8EB7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5CB1F8-3B58-4B1C-83A7-652DE95E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55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B393568-FBA9-4FF3-B072-FC35D906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0078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governed dataset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E9AACE-02AE-47A0-B348-C51DAB6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De-identified, labelled applicant data with train / validation / test partitions.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EE0FA9-7589-4103-8EFE-840FE89D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DF67163-834B-4476-B924-FE8CB27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B5FE8A4-976F-4582-8C91-CF9C81D2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61BD96-36E0-4A82-9B30-9AEDE74E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70078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Calibrate supervised models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C1D1A18-ABF0-410A-83E7-C32757C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Compare scorecards against calibrated ML baselines on the same data.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F2B7B50-8DEA-4E77-B9A8-EE1E6FC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52A2A81-BD53-4DB6-A486-E37302C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73F58D-589C-4DA3-9562-14FD330E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E7BF82A-581B-4D0F-BB86-3E772BB5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670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formal explainability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A5F1CE7-F98F-4833-896D-D92FE21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Introduce SHAP-style attributions once model choice is validated.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EC88665-1C76-4929-89A1-BF116AA3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FF512D7-2DE3-4BF1-B3C1-0EC5CE8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015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AE88EE3-76CA-4C4F-805B-9284B65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015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127C106-45A3-40C3-ACF3-CF182A5E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34670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Activate the fraud model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FFF0FA-7EFF-400E-875B-781680F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70332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Connect (or replace) the offline Isolation Forest to live scoring.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C51900-12D6-4CEC-8263-1194ADF8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8602E5A-8207-4808-A03D-268F7FA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47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534F0D3-8899-4BD4-8AC6-A8615301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47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616CF6B-FEA5-4708-BAF3-E84197F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262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Harden security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274D34-29A5-449C-BE7A-62FA12B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4924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JWT/SSO, RBAC, encrypted storage and audit logging for production use.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EE5A335-4FD0-4E4B-B595-AF0D36E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46320"/>
            <a:ext cx="5394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27306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60AE4B3-2848-420D-92D0-37ED8B0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0474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0B40D1-A956-457D-8BAE-3012DA77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0474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6</a:t>
            </a:r>
            <a:endParaRPr sz="18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56D0254-281D-4B35-A4B5-BF2F4902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99262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oversight tooling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3979151-5323-4832-9948-E65400D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349240"/>
            <a:ext cx="4389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Model monitoring, drift checks and adverse-action reason codes.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6F9B0DF-8850-4EA9-A8F1-DDF6F2E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8C9AD6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BD5476-9D76-4CE4-B859-7D38AA3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C9AD6"/>
                </a:solidFill>
                <a:latin typeface="Calibri"/>
                <a:ea typeface="Calibri"/>
                <a:cs typeface="Calibri"/>
              </a:rPr>
              <a:t>8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5604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7CD130-3ACB-4AC8-BDD9-4531B25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1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CBDDF1-C1B5-42FA-8767-F621FE49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Model &amp; Explainability Maturity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F3160A-3742-4910-84B6-6D8C605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731540B-9946-415E-A7EA-8BC0786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99032"/>
            <a:ext cx="3108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Labelled dataset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F7BF3C-D856-4274-AE7D-5C2A7E16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39903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Curate and de-identify a properly labelled banking dataset for supervised training and evaluation.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4469A3-59E9-4327-AFBF-E4E2FDC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E19A2A2-39B4-46F8-A289-DCF86587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3108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Calibrated ML baseline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22BE33-2E9D-4246-905F-400A6AAD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31343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Train and calibrate a gradient-boosted or logistic model alongside the current scorecards, not as a replacement.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C87BCE3-93E5-4C9D-A5DD-7CFB6213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807798-2C90-4C2B-BE8F-F97FD215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27832"/>
            <a:ext cx="3108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SHAP-based attribution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EBCA7A-5E06-40F2-9B32-E490B506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22783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Layer SHAP explanations on the ML baseline once accuracy and stability checks pass, per the reviewed literature.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4ABF19-CB31-4E74-A869-268A61D1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C696A0-FE02-4C9B-BAFD-6BF41914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3108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Fraud model activation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5399D21-D957-4596-A127-3076C91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14223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Bring the offline Isolation Forest (or a retrained successor) into live scoring, with rule scores kept as a fallback.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E9586C6-CD06-43D3-9694-109988B2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CEA4F8-CCEF-4BF1-AC6F-CC3BBD8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2"/>
            <a:ext cx="3108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Side-by-side reporting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EE0EA00-DE82-46D6-9C64-DA00BF57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505663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Show scorecard reasons and model attributions together so an officer can compare and override either.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314A087-AF07-4EB8-A141-6BC3104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D8EC47-AF1E-49DF-B641-852C4E6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9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25367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FCCD86-A4C7-4DAD-BD28-7153BA6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2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A71658-FB77-45D6-80BB-624E215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Security &amp; Production Readiness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3C7BEE-A53D-45E4-930A-D6E23E5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A5EE4B-3033-4F04-81C5-71B324F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D6B31C-13B6-43D2-88C1-8CA3BC8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931477-FA47-49DC-9F44-DBF16D2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Authentication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50AADF-91EC-48D0-8445-6DBC73B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Replace demo credentials with real auth, JWT/SSO and role-based access control.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1C4D41-9518-4362-8EED-CB54FB2E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424E09A-89A0-444A-9D7B-F6F2F54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D80EFA-B4C2-4373-9798-34BCFD0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DBA4E8-AE34-42E7-95BE-6C91238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Encryption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012D98F-68A4-4D17-BD7A-9E5EAAA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Encrypt data at rest and in transit; move raw payload storage behind access controls.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A1C5F53-140F-4A6B-91D7-DBB51D0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00103B1-4D0E-4A04-8A57-1A995EED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088985-194E-4BCA-ADD0-CFEBBE9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361622-9C0E-4B60-B813-8B623DC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Audit &amp; Secrets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5149AC-34B1-4764-BF0F-603EA813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Structured audit logging, secrets management, and retention/deletion policies.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0F5221B-D05D-47F4-B7D0-2F8D578B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7141200-403A-416C-BAE6-9D03A974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0560E61-51E7-4B96-930D-20861E4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190E0C6-7BA4-48BA-8B1E-1948ED9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Scalable Processing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8FC440B-7E6A-4D4A-9B9E-44EBB69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Move large batches and OCR to background workers instead of synchronous calls.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59580B1-6A37-4E8A-93A7-6AE1A30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3F5775-8F5A-445B-8690-0D4873D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6413718-69CF-4E3D-9972-6C3B40F1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8E401F9-CD29-49A1-835A-30FA9E4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Compliance Checks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966542B-6D37-4F27-90C8-8FB5C3D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Adverse-action reason codes and policy checks aligned to lending regulation.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BC2CB52-A791-449A-8166-164E649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991C711-8B0C-464A-B6BD-1EF5D1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CEC4F6-E9FB-48D8-9340-0DD1B09B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2F4C24A-FE84-4803-9704-6D98C14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Monitoring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4BD1E6-11E7-4E1F-B077-7CA5E8C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Model drift monitoring and a lightweight model registry across scorecards and ML models.</a:t>
            </a:r>
            <a:endParaRPr sz="10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F1FDDA2-FAD3-4F91-8798-38A272B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2CCA061-F5E8-4D9A-B7D2-4BA5D27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10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50884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68DD0-5D27-465C-821F-B65B0B4B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3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AAAC53-AD31-445F-931D-453C39A4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Integration &amp; Product Enhancements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D95F7C-50E5-4401-8760-C70E72F0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PLANNED INTEGRATIONS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EC3B3B2-2065-4DE1-AD32-BEB7325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AC0F9B-46A9-4C84-8982-0352B80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F92C93-7F64-4333-AEBA-A1E2C8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Credit-bureau API integration for verified score inputs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8823D7-E0F1-4B36-8E8C-B8F42F9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5B7141-DCD6-4625-8533-A22AD88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EC181A-61C6-4A0A-88E2-3E4F4DAB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Optional, clearly-labelled external LLM for narrative summaries only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16C8F2-38F8-419B-85CC-32991FF4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819F86-147B-473F-BEFF-6E11FF6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F551D0-9DE8-4B79-80D8-3E592E0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Alembic-managed schema migrations for safer releases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D1380AF-1D66-484C-9B0E-8AFD70F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DAE712-8C7F-48C5-9543-34827B6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F958DE-66F1-4956-8728-03F5046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Mobile-friendly officer view for on-the-go case review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145226-D75F-4D29-87D1-49E0DB44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17320"/>
            <a:ext cx="0" cy="4709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ADCF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4B5BBB-EAD8-4EF7-AA8F-96E6D5C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EXPLAINABILITY &amp; TRUST FEATURES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61DA0E-D49C-47D3-BFDC-D5421764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C7F2C27-7C4F-41B0-A00C-01E9625F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4E6D2F-91F8-43D6-A32F-E059BA9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8308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Human-in-the-loop override captured with a recorded reason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D1E42A0-EB8F-4CA3-8972-AD266BF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CD091F4-0317-47FD-8BC2-3ABD539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A0E9821-90CA-4A55-B64C-66B84CF1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04872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Fairness and disparate-impact checks across applicant groups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4C7E92A-4DFD-4B5B-9D4E-ED241497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D8EBE7A-909E-4A70-9FBF-DDB120FA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CB7D074-305C-4109-94FF-F036731E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26664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Adverse-action notices generated from score attributions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58BE85E-9B70-4AA0-8EAA-3BF4A96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17AF469-3549-4D78-B9BD-4C8DB52D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90CCE3B-DFBA-4BB9-937E-FD4D9F4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4845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Version-tagged model registry for reproducible decisions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55E8A39-7CAA-4015-944E-985A1232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EA36255-E4EE-45A7-B8CB-5175FA5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235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external LLM use stays optional, narrative-only and clearly labelled — active scoring remains local, per the Phase 1 privacy stance.</a:t>
            </a:r>
            <a:endParaRPr sz="11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5F135DC-9AC7-48FA-81A2-E232E73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9AA2E72-991B-4DFD-9948-AB3C0CF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11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691370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4CF31A-6198-42D2-B876-57915B30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4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4705B2-662F-4009-8AED-D842CB4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Optional Agentic AI Assistant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FCC588-1DEA-4D1A-AAF8-1CC2A32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AGENT WOULD DO — ADVISORY ONLY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2764D5-3752-429D-8EA6-0615F6B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7C508D-45E5-46AD-8540-8C642CD9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740471-FB77-442D-A0B5-6F260CD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Classify and read each uploaded document, then extract its key fields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5B1D45-C8FF-49C2-9797-BA9447A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9FC2F1F-EBF1-4292-86E2-3DB957C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DE1992-13F2-4341-937C-10CF85F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Flag missing, expired or inconsistent paperwork for the officer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36EFCF0-9C04-43B6-9027-3D82688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725E21F-F28F-44E4-9A0D-94D57C41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0392F9-9D80-4C33-AAC5-99034D9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Retrieve the relevant lending-policy text for each case (agentic RAG)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F6C1C8D-018F-4E32-9AFD-A178DC40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FDA084E-3EAD-4C34-AC36-F0DE859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289424-FD00-4B67-91D7-7519151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Draft a plain-language narrative summary of the evidence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6C1D176-06F9-44DF-8625-A9C3121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17320"/>
            <a:ext cx="0" cy="4709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ADCF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75A966C-D002-458F-9F2A-935ECB30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GUARDRAILS — WHY IT STAYS SAFE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481400D-78EE-4144-A659-C53D9C09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905B269-6557-4F2C-8EE6-277F8E7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5886B5-2126-46B1-8FEB-B3DD641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8308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Barred from the Approve / Review / Reject decision itself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EEF7CA0-5AAF-4045-973E-4C7F4F3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6EF4AF-6EAC-4C87-B14E-FA9C954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7E64CE9-2A7F-4BAF-BBC8-5F21D30A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04872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Every tool call and step written to the processing log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3F2ABA1-A234-4377-8271-50E06C45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A439D8-000C-4C09-A36C-8B65D7FD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260DC06-ECB9-4427-B9AC-2DB5696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26664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Human officer reviews and can override every suggestion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BE8AD93-F93A-43A7-B273-1E69BF98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AE25254-FC8E-4691-90AF-1B8F801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085720C-96C4-4528-9070-F989D71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4845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Active scoring stays local — no data leaves the host to decide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8DF72F4-8050-4D2B-BE17-C9CFF673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ED19FCF-C8AA-434E-90A0-0D2852D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235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Grounded in agentic-AI research added to the Phase 2 survey — Okpala et al. [21], Singh et al. [22], Ferrag et al. [23]: capture the speed of agentic document handling while containing its auditability cost.</a:t>
            </a:r>
            <a:endParaRPr sz="11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7F9E14C-5F02-45EA-918F-800B184B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6FFB9D2-351A-4818-967E-0A1E509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12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175441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5E6BD5-7F7F-4665-AA90-2FA462B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EXECUTION PLAN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D6641E-8F5C-4D99-BF11-AC92018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Phase 2 Timeline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E26528-12EC-4716-BBC1-0C10951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ADCF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416659-38F0-4530-8B25-6190E41B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7A1157-A33F-47D6-B877-BD88FBC8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70DD51-3DA3-4076-A234-C3B05F41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1AB811-D204-4A08-AD94-456317FB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4320" y="146304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02ABBD-321D-4D35-B347-D9BF209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1168" y="153619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1–2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5FC732-F698-45A6-AF33-A273881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1168" y="178308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Dataset governance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89481EB-1EDC-4E59-8584-6217AE08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1168" y="205740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De-identify data, define labels, split train/val/test</a:t>
            </a:r>
            <a:endParaRPr sz="8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949C71-47BE-488B-9076-95A24C3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B4DEDAA-CE7C-49B5-A25A-515E9EE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C47A37-C037-4F2B-BF27-B792D458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227832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3439140-FD38-42CB-AF66-D45753FB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47472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1CB9945-97C4-4A13-81DA-4672E44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354787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3–4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FD82A3-8D0D-4D56-B99C-B02CF1A1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379476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 calibration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ECB303-18E6-49FD-B714-8C9234AA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406908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Train &amp; calibrate ML baseline; benchmark vs scorecards</a:t>
            </a:r>
            <a:endParaRPr sz="87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38C8A5D-0B9A-49D1-BB90-0CF01F6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5A3F03-F807-4340-AE6B-5CE6F667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3C4F783-C0BB-4572-BF4D-B81BDD17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651760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2036368-EA95-4B12-8120-6CE6B39E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146304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45DCBF7-81F8-4F6F-B8A5-EAC0F375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153619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5–6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BFA0F3B-617D-4C51-8C38-2D7FFC53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178308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Explainability layer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26A16DB-9742-4BC5-9D67-779D724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205740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Integrate SHAP attributions; side-by-side reporting UI</a:t>
            </a:r>
            <a:endParaRPr sz="87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7ACD9AC-6535-4910-8F3D-544B1083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E46183A-DB05-40B2-94ED-60E8D0D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601CC61-0E6A-439D-B99F-335E5CB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227832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8B60204-7826-4959-ABD9-6F5E0D8B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47472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D3054F5-397A-4B03-8F15-95653436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54787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7–8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DD051F2-77BD-4360-AE38-FD3A98F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9476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Security hardening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186A4A4-2AB8-4FC3-980E-085BDBD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06908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Auth, RBAC, encryption, audit logging</a:t>
            </a:r>
            <a:endParaRPr sz="87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6B627A7-4EA8-465D-8F3B-BE29F7B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EAB8331-0BD9-405A-B942-5CEE21D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8F74C86-257B-4C41-B80F-5F7E130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2651760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046AFB53-BC51-4EDF-8573-32F71966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46304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8427031-0299-46C9-903D-18071640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53619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9–10</a:t>
            </a:r>
            <a:endParaRPr sz="1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2494929-45B1-4EB1-8546-8A8C5FEE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78308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Integration &amp; polish</a:t>
            </a:r>
            <a:endParaRPr sz="11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3017550-35B6-4D01-AA40-31C2635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05740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Bureau API stub, monitoring, reason codes, mobile view</a:t>
            </a:r>
            <a:endParaRPr sz="87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0CD0CB3-0D51-429A-AC38-E1D74DE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848" y="2898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4CD1F6D-0BA5-4FF5-841E-BA9CAF63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848" y="2898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3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ED598F9-76A2-4A79-81C5-B85EDBBC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3227832"/>
            <a:ext cx="0" cy="246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5CCA2F4-F133-4DFD-9B12-6CC1091E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474720"/>
            <a:ext cx="182880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3AC01CC-64ED-4831-B335-649FF20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354787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Weeks 11–12</a:t>
            </a:r>
            <a:endParaRPr sz="10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A81C4DE-3AEA-4D92-BAC6-073F2109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3794760"/>
            <a:ext cx="1682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verification</a:t>
            </a:r>
            <a:endParaRPr sz="11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EF5EDCD-7B3D-4DBE-B808-7EA009CA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4069080"/>
            <a:ext cx="16824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7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Full test suite, fairness checks, Phase 2 report &amp; demo</a:t>
            </a:r>
            <a:endParaRPr sz="87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F828252-C7F4-43EA-95AC-D010640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C7D99F30-D026-4D2B-AF56-6BF88C8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13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5266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61D432-823D-4BA6-B223-686FEE37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41148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C69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B25E6C-D4BE-49D3-A63C-F5313CC8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-164592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44ABBC-380E-4038-95DE-AD908A5E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9144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85F075-FC90-494B-BE34-2C2CB63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375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 &amp; Discussion — Phase 2 Review 1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8389626-9725-4505-B296-5DF1AEBF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993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44BCDE-F173-47FE-A5A6-ECF2B65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6052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Gayathri Devi B  |  M.Tech Data Science AI &amp; ML  |  PES University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291DDB-2DB3-4A2C-8F55-666C68E4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80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Guide: Sagarika Borah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831958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68DD0-5D27-465C-821F-B65B0B4B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3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AAAC53-AD31-445F-931D-453C39A4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Integration &amp; Product Enhancements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D95F7C-50E5-4401-8760-C70E72F0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PLANNED INTEGRATIONS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EC3B3B2-2065-4DE1-AD32-BEB7325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AC0F9B-46A9-4C84-8982-0352B80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F92C93-7F64-4333-AEBA-A1E2C8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Credit-bureau API integration for verified score inputs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8823D7-E0F1-4B36-8E8C-B8F42F9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5B7141-DCD6-4625-8533-A22AD88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EC181A-61C6-4A0A-88E2-3E4F4DAB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Optional, clearly-labelled external LLM for narrative summaries only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16C8F2-38F8-419B-85CC-32991FF4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819F86-147B-473F-BEFF-6E11FF6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F551D0-9DE8-4B79-80D8-3E592E0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Alembic-managed schema migrations for safer releases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D1380AF-1D66-484C-9B0E-8AFD70F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DAE712-8C7F-48C5-9543-34827B6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F958DE-66F1-4956-8728-03F5046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Mobile-friendly officer view for on-the-go case review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145226-D75F-4D29-87D1-49E0DB44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17320"/>
            <a:ext cx="0" cy="4709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ADCF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4B5BBB-EAD8-4EF7-AA8F-96E6D5C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EXPLAINABILITY &amp; TRUST FEATURES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61DA0E-D49C-47D3-BFDC-D5421764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C7F2C27-7C4F-41B0-A00C-01E9625F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4E6D2F-91F8-43D6-A32F-E059BA9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8308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Human-in-the-loop override captured with a recorded reason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D1E42A0-EB8F-4CA3-8972-AD266BF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CD091F4-0317-47FD-8BC2-3ABD539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A0E9821-90CA-4A55-B64C-66B84CF1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04872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Fairness and disparate-impact checks across applicant groups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4C7E92A-4DFD-4B5B-9D4E-ED241497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D8EBE7A-909E-4A70-9FBF-DDB120FA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238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CB7D074-305C-4109-94FF-F036731E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26664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Adverse-action notices generated from score attributions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58BE85E-9B70-4AA0-8EAA-3BF4A96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93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17AF469-3549-4D78-B9BD-4C8DB52D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417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90CCE3B-DFBA-4BB9-937E-FD4D9F4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4845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Version-tagged model registry for reproducible decisions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55E8A39-7CAA-4015-944E-985A1232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6424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EA36255-E4EE-45A7-B8CB-5175FA5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235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external LLM use stays optional, narrative-only and clearly labelled — active scoring remains local, per the Phase 1 privacy stance.</a:t>
            </a:r>
            <a:endParaRPr sz="11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5F135DC-9AC7-48FA-81A2-E232E73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9AA2E72-991B-4DFD-9948-AB3C0CF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11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69137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FCCD86-A4C7-4DAD-BD28-7153BA6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E3993B"/>
                </a:solidFill>
                <a:latin typeface="Calibri"/>
                <a:ea typeface="Calibri"/>
                <a:cs typeface="Calibri"/>
              </a:rPr>
              <a:t>UPCOMING ENHANCEMENT · TRACK 2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A71658-FB77-45D6-80BB-624E215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Security &amp; Production Readiness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3C7BEE-A53D-45E4-930A-D6E23E5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A5EE4B-3033-4F04-81C5-71B324F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D6B31C-13B6-43D2-88C1-8CA3BC8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931477-FA47-49DC-9F44-DBF16D2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Authentication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50AADF-91EC-48D0-8445-6DBC73B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Replace demo credentials with real auth, JWT/SSO and role-based access control.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1C4D41-9518-4362-8EED-CB54FB2E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424E09A-89A0-444A-9D7B-F6F2F54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D80EFA-B4C2-4373-9798-34BCFD0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DBA4E8-AE34-42E7-95BE-6C91238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Encryption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012D98F-68A4-4D17-BD7A-9E5EAAA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Encrypt data at rest and in transit; move raw payload storage behind access controls.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A1C5F53-140F-4A6B-91D7-DBB51D0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508760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00103B1-4D0E-4A04-8A57-1A995EED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088985-194E-4BCA-ADD0-CFEBBE9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361622-9C0E-4B60-B813-8B623DC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21992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Audit &amp; Secrets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5149AC-34B1-4764-BF0F-603EA813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560320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Structured audit logging, secrets management, and retention/deletion policies.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0F5221B-D05D-47F4-B7D0-2F8D578B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7141200-403A-416C-BAE6-9D03A974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0560E61-51E7-4B96-930D-20861E4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190E0C6-7BA4-48BA-8B1E-1948ED9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Scalable Processing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8FC440B-7E6A-4D4A-9B9E-44EBB69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Move large batches and OCR to background workers instead of synchronous calls.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59580B1-6A37-4E8A-93A7-6AE1A30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3F5775-8F5A-445B-8690-0D4873D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6413718-69CF-4E3D-9972-6C3B40F1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8E401F9-CD29-49A1-835A-30FA9E4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Compliance Checks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966542B-6D37-4F27-90C8-8FB5C3D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Adverse-action reason codes and policy checks aligned to lending regulation.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BC2CB52-A791-449A-8166-164E649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730752"/>
            <a:ext cx="35204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AF0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991C711-8B0C-464A-B6BD-1EF5D1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136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CEC4F6-E9FB-48D8-9340-0DD1B09B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913632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2F4C24A-FE84-4803-9704-6D98C14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443984"/>
            <a:ext cx="3154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Monitoring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4BD1E6-11E7-4E1F-B077-7CA5E8C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782312"/>
            <a:ext cx="3154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0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Model drift monitoring and a lightweight model registry across scorecards and ML models.</a:t>
            </a:r>
            <a:endParaRPr sz="10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F1FDDA2-FAD3-4F91-8798-38A272B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spc="1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LOANLENS AI  |  PHASE 2 REVIEW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2CCA061-F5E8-4D9A-B7D2-4BA5D27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28816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84"/>
                </a:solidFill>
                <a:latin typeface="Calibri"/>
                <a:ea typeface="Calibri"/>
                <a:cs typeface="Calibri"/>
              </a:rPr>
              <a:t>10 / 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508848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2026-08-22T11:17:22.7910000Z</dcterms:created>
  <dcterms:modified xsi:type="dcterms:W3CDTF">2026-08-22T11:17:22.7910000Z</dcterms:modified>
</coreProperties>
</file>